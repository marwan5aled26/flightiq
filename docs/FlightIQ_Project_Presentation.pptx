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rwan5aled26/flight-iq" TargetMode="External"/><Relationship Id="rId1" Type="http://schemas.openxmlformats.org/officeDocument/2006/relationships/image" Target="../media/image-1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hyperlink" Target="https://github.com/marwan5aled26/flight-iq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rwan5aled26/flight-iq" TargetMode="External"/><Relationship Id="rId1" Type="http://schemas.openxmlformats.org/officeDocument/2006/relationships/image" Target="../media/image-13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858000" cy="685800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4206240"/>
            <a:ext cx="5943600" cy="59436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85800"/>
            <a:ext cx="1371600" cy="13716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8229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FlightIQ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20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Big Data Analytics &amp; Flight Delay Detection System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800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TRAINING PROGRAM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0474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– September 2026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389120" y="4800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50474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Analysis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4800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50474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S26-B8-BIG DATA-G8-M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22960" y="5623560"/>
            <a:ext cx="502920" cy="41148"/>
          </a:xfrm>
          <a:prstGeom prst="rect">
            <a:avLst/>
          </a:prstGeom>
          <a:solidFill>
            <a:srgbClr val="D98E2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57790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Khaled Sayed Boraiy   •   Abdullah Hussein Mohammed Elsayed   •   Roqaia Gamal Hosny Mohamed   •   Basmala Atef Mohamed Darwesh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buNone/>
            </a:pPr>
            <a:r>
              <a:rPr lang="en-US" sz="1100" i="1" u="sng" dirty="0">
                <a:solidFill>
                  <a:srgbClr val="7FA9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github.com/marwan5aled26/flight-iq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FlightIQ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6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Big Data project designed to track and predict flight delays. It combines historical datasets with live data streams from the Bureau of Transportation Statistics (BTS).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Kafka, Spark, HDFS, and PostgreSQL, the system turns raw flight data into clear charts and live delay predictions — bridging the gap between historical analytics and real-time intelligence.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89204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4983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468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Big Data Tools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0" y="489204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0360" y="4983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5468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Modes: Batch &amp; Stream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489204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74920" y="4983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&lt;2s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5468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Streaming Latency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52360" y="1554480"/>
            <a:ext cx="4206240" cy="4434840"/>
          </a:xfrm>
          <a:prstGeom prst="roundRect">
            <a:avLst>
              <a:gd name="adj" fmla="val 30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823960" y="2331720"/>
            <a:ext cx="1463040" cy="14630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2288" y="2670048"/>
            <a:ext cx="786384" cy="78638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772400" y="4023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records to real-time answers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726680" y="4709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 +  Live Streams  →  Predictions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FlightIQ  |  Real-Time Flight Intelligence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Statement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delays cause significant problems for airlines and passengers. FlightIQ addresses two core technical challenges: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514600"/>
            <a:ext cx="960120" cy="9601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6" y="2639416"/>
            <a:ext cx="710489" cy="71048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3657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Huge Historical Data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2062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flight data is far too large to analyze quickly on a normal computer without dedicated Big Data tools.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394960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20840" y="2514600"/>
            <a:ext cx="960120" cy="9601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656" y="2639416"/>
            <a:ext cx="710489" cy="71048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20840" y="3657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Lack of Live Tracking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720840" y="42062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current systems only look at past data — they cannot track or predict delays as they happen in real time.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FlightIQ  |  Real-Time Flight Intelligence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03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Concept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FlightIQ is built around two complementary engines that meet in one shared platform.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109728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Side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786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historical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5349240" cy="109728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Side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5786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live data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enables the team to: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3959901"/>
            <a:ext cx="419527" cy="41952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325880" y="3913632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live flights and catch delays instantly.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41" y="4737141"/>
            <a:ext cx="419527" cy="41952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325880" y="4690872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historical data to see which airlines or airports have the most delays.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548640" y="54406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514381"/>
            <a:ext cx="419527" cy="41952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25880" y="5468112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Machine Learning model to predict if a flight will be late — before it even lands.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FlightIQ  |  Real-Time Flight Intelligence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04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109960" cy="4864608"/>
          </a:xfrm>
          <a:prstGeom prst="roundRect">
            <a:avLst>
              <a:gd name="adj" fmla="val 18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73352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453" y="1735165"/>
            <a:ext cx="351861" cy="3518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18488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&amp; Lakehouse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61848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&amp; PostgreSQL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16184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for historical &amp; streaming flight datasets with SQL querying capabilities.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88720" y="2295144"/>
            <a:ext cx="10195560" cy="0"/>
          </a:xfrm>
          <a:prstGeom prst="line">
            <a:avLst/>
          </a:prstGeom>
          <a:noFill/>
          <a:ln w="12700">
            <a:solidFill>
              <a:srgbClr val="E3EB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46888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53" y="2530693"/>
            <a:ext cx="351861" cy="3518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241401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709160" y="241401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818120" y="241401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of real-time flight event streams with low latency.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1188720" y="3090672"/>
            <a:ext cx="10195560" cy="0"/>
          </a:xfrm>
          <a:prstGeom prst="line">
            <a:avLst/>
          </a:prstGeom>
          <a:noFill/>
          <a:ln w="12700">
            <a:solidFill>
              <a:srgbClr val="E3EB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3264408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53" y="3326221"/>
            <a:ext cx="351861" cy="35186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320954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 ML Engine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4709160" y="320954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(SQL, Streaming, MLlib)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7818120" y="320954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ETL, real-time stream processing, and ML delay predictions.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1188720" y="3886200"/>
            <a:ext cx="10195560" cy="0"/>
          </a:xfrm>
          <a:prstGeom prst="line">
            <a:avLst/>
          </a:prstGeom>
          <a:noFill/>
          <a:ln w="12700">
            <a:solidFill>
              <a:srgbClr val="E3EBF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8640" y="405993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53" y="4121749"/>
            <a:ext cx="351861" cy="35186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17320" y="400507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Reporting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4709160" y="400507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7818120" y="400507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for monitoring real-time flight metrics and historical analytics.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1188720" y="4681728"/>
            <a:ext cx="10195560" cy="0"/>
          </a:xfrm>
          <a:prstGeom prst="line">
            <a:avLst/>
          </a:prstGeom>
          <a:noFill/>
          <a:ln w="12700">
            <a:solidFill>
              <a:srgbClr val="E3EBF1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48640" y="4855464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53" y="4917277"/>
            <a:ext cx="351861" cy="351861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417320" y="480060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4709160" y="480060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7818120" y="48006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and manages all Big Data tools in isolated environments via a single file.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1188720" y="5477256"/>
            <a:ext cx="10195560" cy="0"/>
          </a:xfrm>
          <a:prstGeom prst="line">
            <a:avLst/>
          </a:prstGeom>
          <a:noFill/>
          <a:ln w="12700">
            <a:solidFill>
              <a:srgbClr val="E3EBF1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548640" y="565099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453" y="5712805"/>
            <a:ext cx="351861" cy="351861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417320" y="5596128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50" dirty="0"/>
          </a:p>
        </p:txBody>
      </p:sp>
      <p:sp>
        <p:nvSpPr>
          <p:cNvPr id="38" name="Text 30">
            <a:hlinkClick r:id="rId7" tooltip=""/>
          </p:cNvPr>
          <p:cNvSpPr txBox="1"/>
          <p:nvPr/>
        </p:nvSpPr>
        <p:spPr>
          <a:xfrm>
            <a:off x="4709160" y="559612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&amp; GitHub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7818120" y="559612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management, collaborative development, and project tracking.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FlightIQ  |  Real-Time Flight Intelligence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05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 &amp; Process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1051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373" y="1884213"/>
            <a:ext cx="419527" cy="4195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975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&amp; Batch Foundation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514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raw historical CSVs into HDFS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with Spark; save as Parquet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PostgreSQL tables for SQL queries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155448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65392" y="181051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093" y="1884213"/>
            <a:ext cx="419527" cy="41952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69480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269480" y="1975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 Simulation &amp; Ingestion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601968" y="2514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 simulates live flight rows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pushed into Kafka topics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79476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4672" y="405079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73" y="4124493"/>
            <a:ext cx="419527" cy="41952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3995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508760" y="42153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Processing &amp; ML Inference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841248" y="4754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 reads Kafka, computes stats every 5 min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ML model predicts delays live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309360" y="379476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65392" y="405079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093" y="4124493"/>
            <a:ext cx="419527" cy="41952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69480" y="3995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7269480" y="42153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6601968" y="4754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unifies batch &amp; streaming results into one clear view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FlightIQ  |  Real-Time Flight Intelligence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06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Decisions — Faster Flights, Happier Journeys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0515600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pic>
        <p:nvPicPr>
          <p:cNvPr id="6" name="Image 0" descr="/home/claude/flightiq_pptx/workflow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874520"/>
            <a:ext cx="2834640" cy="4434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51960" y="196596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251960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709160" y="1901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22128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streams real-time flight events with low latency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280720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251960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305409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holds raw &amp; historical data; PostgreSQL serves queries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51960" y="3648456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2519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709160" y="3584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4709160" y="3895344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runs batch ETL and real-time streaming analytics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251960" y="448970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251960" y="4489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709160" y="44256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4709160" y="47365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 model scores live streams for delay prediction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251960" y="5330952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251960" y="5330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709160" y="52669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4709160" y="55778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 reach airlines, passengers &amp; analysts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FlightIQ  |  Real-Time Flight Intelligence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· 07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Pipeline &amp; Strategy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939" y="2088947"/>
            <a:ext cx="439826" cy="4398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743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33756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if a flight will be delayed by more than 15 minutes (Yes / No).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0" y="3520440"/>
            <a:ext cx="164592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364992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21024" y="2011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291" y="2088947"/>
            <a:ext cx="439826" cy="43982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21024" y="2743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3621024" y="333756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Distance, Day of the Week, Airline, and Airport.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16752" y="3520440"/>
            <a:ext cx="164592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181344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37376" y="2011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643" y="2088947"/>
            <a:ext cx="439826" cy="43982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37376" y="2743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the Model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6437376" y="333756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Random Forest model using Spark MLlib on historical data.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833104" y="3520440"/>
            <a:ext cx="164592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8997696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53728" y="2011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0995" y="2088947"/>
            <a:ext cx="439826" cy="43982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53728" y="2743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Model</a:t>
            </a:r>
            <a:endParaRPr lang="en-US" sz="1450" dirty="0"/>
          </a:p>
        </p:txBody>
      </p:sp>
      <p:sp>
        <p:nvSpPr>
          <p:cNvPr id="26" name="Text 20"/>
          <p:cNvSpPr txBox="1"/>
          <p:nvPr/>
        </p:nvSpPr>
        <p:spPr>
          <a:xfrm>
            <a:off x="9253728" y="333756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the trained model into the live Spark stream to predict delays instantly.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FlightIQ  |  Real-Time Flight Intelligence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· 08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945843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562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Stream Processing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4688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JSON flight events from Kafka and process them in Spark using 5-minute windows.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874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003" y="194584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8562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Cause Categorization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601968" y="24688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delays by reason (Carrier, Weather, NAS, Security, Late Aircraft) and calculate percentages.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414040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0507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Carrier &amp; Airport Rankings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41248" y="46634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On-Time Performance (OTP %) and average delays, saved to partitioned PostgreSQL tables.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79476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0" y="4069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003" y="414040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0507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Delay Inference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6601968" y="46634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pre-trained ML model to live streams to predict delays over 15 minutes.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FlightIQ  |  Real-Time Flight Intelligence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· 09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945843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562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4688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horizontally by adding Spark workers, HDFS DataNodes, or Kafka partitions.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874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003" y="194584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8562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&amp; Latency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601968" y="24688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stream processing under 2 seconds; Parquet format for fast PostgreSQL queries.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414040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0507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Tolerance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41248" y="46634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checkpointing and HDFS replication prevent data loss if a node crashes.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79476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069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003" y="414040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0507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Portability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6601968" y="46634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the entire environment (Kafka, Spark, HDFS, PostgreSQL) with a single docker-compose command.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FlightIQ  |  Real-Time Flight Intelligence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· 10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Mitigation Strategies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F4F8FB"/>
          </a:solidFill>
          <a:ln w="12700">
            <a:solidFill>
              <a:srgbClr val="E3EB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20824"/>
            <a:ext cx="566928" cy="566928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41" y="2094525"/>
            <a:ext cx="419527" cy="4195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0136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Unbalanced Data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74920" y="1783080"/>
            <a:ext cx="0" cy="1051560"/>
          </a:xfrm>
          <a:prstGeom prst="line">
            <a:avLst/>
          </a:prstGeom>
          <a:noFill/>
          <a:ln w="12700">
            <a:solidFill>
              <a:srgbClr val="D7E1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03520" y="17830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flights are on time, so the ML model might get confused.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503920" y="202082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356" y="2080260"/>
            <a:ext cx="338328" cy="33832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098280" y="17830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techniques like SMOTE in Spark to balance the data before training.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10896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F4F8FB"/>
          </a:solidFill>
          <a:ln w="12700">
            <a:solidFill>
              <a:srgbClr val="E3EBF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3438144"/>
            <a:ext cx="566928" cy="566928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1" y="3511845"/>
            <a:ext cx="419527" cy="41952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21868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074920" y="3200400"/>
            <a:ext cx="0" cy="1051560"/>
          </a:xfrm>
          <a:prstGeom prst="line">
            <a:avLst/>
          </a:prstGeom>
          <a:noFill/>
          <a:ln w="12700">
            <a:solidFill>
              <a:srgbClr val="D7E1E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303520" y="32004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Canceled or on-time flights have empty delay columns.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503920" y="343814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3356" y="3497580"/>
            <a:ext cx="338328" cy="33832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98280" y="32004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empty delay times with “0” and handle canceled flights separately.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48640" y="452628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F4F8FB"/>
          </a:solidFill>
          <a:ln w="12700">
            <a:solidFill>
              <a:srgbClr val="E3EBF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7240" y="4855464"/>
            <a:ext cx="566928" cy="566928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41" y="4929165"/>
            <a:ext cx="419527" cy="41952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08760" y="463600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 on Computer RAM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5074920" y="4617720"/>
            <a:ext cx="0" cy="1051560"/>
          </a:xfrm>
          <a:prstGeom prst="line">
            <a:avLst/>
          </a:prstGeom>
          <a:noFill/>
          <a:ln w="12700">
            <a:solidFill>
              <a:srgbClr val="D7E1E9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5303520" y="4617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Kafka, Spark, and Hadoop together is heavy on a local machine.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503920" y="485546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3356" y="4914900"/>
            <a:ext cx="338328" cy="33832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098280" y="46177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Spark Worker memory (~2GB), tune JVM heap, and optimize Docker resource allocation.</a:t>
            </a:r>
            <a:endParaRPr lang="en-US" sz="105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FlightIQ  |  Real-Time Flight Intelligence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· 11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Deliverables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1907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19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5506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655064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GitHub repository with all Python and Spark scripts.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111099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61518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151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55117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File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551176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docker-compose.yml file to run the entire environment with one click.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111099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51129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511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44728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3447288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tables ready for running queries.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88536"/>
            <a:ext cx="111099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40740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407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34340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4343400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interface presenting all results.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84648"/>
            <a:ext cx="111099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30352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303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523951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&amp; Video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297680" y="5239512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explaining the project plus a short video demo.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FlightIQ  |  Real-Time Flight Intelligence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560320"/>
            <a:ext cx="6400800" cy="640080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291840"/>
            <a:ext cx="5943600" cy="59436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13248" y="1051560"/>
            <a:ext cx="1371600" cy="13716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11887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Decisions — Faster Flights, Happier Journeys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797296" y="4251960"/>
            <a:ext cx="594360" cy="41148"/>
          </a:xfrm>
          <a:prstGeom prst="rect">
            <a:avLst/>
          </a:prstGeom>
          <a:solidFill>
            <a:srgbClr val="D98E2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Khaled Sayed Boraiy   •   Abdullah Hussein Mohammed Elsayed   •   Roqaia Gamal Hosny Mohamed   •   Basmala Atef Mohamed Darwesh</a:t>
            </a:r>
            <a:endParaRPr lang="en-US" sz="1200" dirty="0"/>
          </a:p>
        </p:txBody>
      </p:sp>
      <p:sp>
        <p:nvSpPr>
          <p:cNvPr id="10" name="Text 7">
            <a:hlinkClick r:id="rId2" tooltip=""/>
          </p:cNvPr>
          <p:cNvSpPr txBox="1"/>
          <p:nvPr/>
        </p:nvSpPr>
        <p:spPr>
          <a:xfrm>
            <a:off x="822960" y="4937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rgbClr val="7FA9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github.com/marwan5aled26/flight-iq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2026-09-02T19:59:06Z</dcterms:created>
  <dcterms:modified xsi:type="dcterms:W3CDTF">2026-09-02T19:59:06Z</dcterms:modified>
</cp:coreProperties>
</file>